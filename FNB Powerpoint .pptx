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99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00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94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074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81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02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9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590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14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32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9612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576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709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837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222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479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813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5/22/2026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217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9" r:id="rId1"/>
    <p:sldLayoutId id="2147483790" r:id="rId2"/>
    <p:sldLayoutId id="2147483791" r:id="rId3"/>
    <p:sldLayoutId id="2147483792" r:id="rId4"/>
    <p:sldLayoutId id="2147483793" r:id="rId5"/>
    <p:sldLayoutId id="2147483794" r:id="rId6"/>
    <p:sldLayoutId id="2147483795" r:id="rId7"/>
    <p:sldLayoutId id="2147483796" r:id="rId8"/>
    <p:sldLayoutId id="2147483797" r:id="rId9"/>
    <p:sldLayoutId id="2147483798" r:id="rId10"/>
    <p:sldLayoutId id="2147483799" r:id="rId11"/>
    <p:sldLayoutId id="2147483800" r:id="rId12"/>
    <p:sldLayoutId id="2147483801" r:id="rId13"/>
    <p:sldLayoutId id="2147483802" r:id="rId14"/>
    <p:sldLayoutId id="2147483803" r:id="rId15"/>
    <p:sldLayoutId id="2147483804" r:id="rId16"/>
    <p:sldLayoutId id="21474838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4F01D5A-76DB-AD54-FBCB-39F6132377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8" b="9039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DA034D-A044-A8A4-A13E-B3282AD391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53240"/>
            <a:ext cx="10438152" cy="1034951"/>
          </a:xfrm>
        </p:spPr>
        <p:txBody>
          <a:bodyPr anchor="t">
            <a:normAutofit/>
          </a:bodyPr>
          <a:lstStyle/>
          <a:p>
            <a:r>
              <a:rPr lang="en-ZA" sz="6000" b="1" dirty="0">
                <a:solidFill>
                  <a:srgbClr val="FFFFFF"/>
                </a:solidFill>
              </a:rPr>
              <a:t>Credit Risk Modelling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8465B3-480A-28FC-C1BD-D638F83F9A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2" y="4932727"/>
            <a:ext cx="12192002" cy="1925272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ZA" sz="1700" b="1" dirty="0">
                <a:solidFill>
                  <a:srgbClr val="FFFFFF"/>
                </a:solidFill>
              </a:rPr>
              <a:t>Interpretable Logistic Regression for Consumer Loan Defaults </a:t>
            </a:r>
          </a:p>
          <a:p>
            <a:pPr>
              <a:lnSpc>
                <a:spcPct val="100000"/>
              </a:lnSpc>
            </a:pPr>
            <a:r>
              <a:rPr lang="en-ZA" sz="1700" b="1" dirty="0">
                <a:solidFill>
                  <a:srgbClr val="FFFFFF"/>
                </a:solidFill>
              </a:rPr>
              <a:t>Retail Lending Analytics | FNB Credit Division | 2026</a:t>
            </a:r>
          </a:p>
          <a:p>
            <a:pPr>
              <a:lnSpc>
                <a:spcPct val="100000"/>
              </a:lnSpc>
            </a:pPr>
            <a:r>
              <a:rPr lang="en-ZA" sz="1700" b="1" dirty="0">
                <a:solidFill>
                  <a:srgbClr val="FFFFFF"/>
                </a:solidFill>
              </a:rPr>
              <a:t>A.S Gwebityala | S.B Mda | B Teta </a:t>
            </a:r>
          </a:p>
        </p:txBody>
      </p:sp>
    </p:spTree>
    <p:extLst>
      <p:ext uri="{BB962C8B-B14F-4D97-AF65-F5344CB8AC3E}">
        <p14:creationId xmlns:p14="http://schemas.microsoft.com/office/powerpoint/2010/main" val="5813827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034DD6-DF94-7049-C911-0400A6AC006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2" b="1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624405F-36AE-8550-D2C1-B92471BFC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174459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Executive Summary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D450E-697D-F458-D41F-3BEC671F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5560" y="1174459"/>
            <a:ext cx="11856419" cy="5503178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Model AUC Score</a:t>
            </a:r>
          </a:p>
          <a:p>
            <a:pPr>
              <a:lnSpc>
                <a:spcPct val="90000"/>
              </a:lnSpc>
            </a:pPr>
            <a:r>
              <a:rPr lang="en-ZA" dirty="0"/>
              <a:t>0.795</a:t>
            </a:r>
          </a:p>
          <a:p>
            <a:pPr marL="0" indent="0">
              <a:lnSpc>
                <a:spcPct val="90000"/>
              </a:lnSpc>
              <a:buNone/>
            </a:pPr>
            <a:endParaRPr lang="en-ZA" sz="1400" b="1" dirty="0"/>
          </a:p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Key Project Impact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dirty="0"/>
              <a:t>Strategic gains of +0.115 over baseline logistic regression, successfully balancing predictive power with full regulatory interpretability </a:t>
            </a:r>
          </a:p>
          <a:p>
            <a:pPr>
              <a:lnSpc>
                <a:spcPct val="90000"/>
              </a:lnSpc>
            </a:pPr>
            <a:r>
              <a:rPr lang="en-ZA" dirty="0"/>
              <a:t>120 960 loan applications processed </a:t>
            </a:r>
          </a:p>
          <a:p>
            <a:pPr>
              <a:lnSpc>
                <a:spcPct val="90000"/>
              </a:lnSpc>
            </a:pPr>
            <a:r>
              <a:rPr lang="en-ZA" dirty="0"/>
              <a:t>14.5% portfolio default rate managed </a:t>
            </a:r>
          </a:p>
          <a:p>
            <a:pPr>
              <a:lnSpc>
                <a:spcPct val="90000"/>
              </a:lnSpc>
            </a:pPr>
            <a:r>
              <a:rPr lang="en-ZA" dirty="0"/>
              <a:t>Optimal Net Profit threshold identified at 25%</a:t>
            </a:r>
          </a:p>
          <a:p>
            <a:pPr>
              <a:lnSpc>
                <a:spcPct val="90000"/>
              </a:lnSpc>
            </a:pPr>
            <a:r>
              <a:rPr lang="en-ZA" dirty="0"/>
              <a:t>Full compliance with NCR and FCA requirements  </a:t>
            </a:r>
          </a:p>
          <a:p>
            <a:pPr marL="0" indent="0">
              <a:lnSpc>
                <a:spcPct val="90000"/>
              </a:lnSpc>
              <a:buNone/>
            </a:pPr>
            <a:endParaRPr lang="en-ZA" sz="1400" dirty="0"/>
          </a:p>
        </p:txBody>
      </p:sp>
    </p:spTree>
    <p:extLst>
      <p:ext uri="{BB962C8B-B14F-4D97-AF65-F5344CB8AC3E}">
        <p14:creationId xmlns:p14="http://schemas.microsoft.com/office/powerpoint/2010/main" val="761576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0D817F6-EAD5-7371-C280-85C4394E2B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123BE1-6EC3-E72C-AE41-02E2D170C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"/>
            <a:ext cx="9905998" cy="1921079"/>
          </a:xfrm>
        </p:spPr>
        <p:txBody>
          <a:bodyPr>
            <a:normAutofit/>
          </a:bodyPr>
          <a:lstStyle/>
          <a:p>
            <a:pPr algn="ctr"/>
            <a:r>
              <a:rPr lang="en-ZA" sz="4400" b="1" u="sng" dirty="0"/>
              <a:t>Business Context </a:t>
            </a:r>
            <a:br>
              <a:rPr lang="en-ZA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CF6B0E-78B7-3CD4-619C-A03C3433F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947" y="1996581"/>
            <a:ext cx="11999053" cy="465589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The Profitability Gap</a:t>
            </a:r>
          </a:p>
          <a:p>
            <a:pPr>
              <a:lnSpc>
                <a:spcPct val="90000"/>
              </a:lnSpc>
            </a:pPr>
            <a:r>
              <a:rPr lang="en-ZA" dirty="0"/>
              <a:t>The baseline model (0.680) resulted in sub-optimal decisioning, leading to missed revenue and elevated credit losses </a:t>
            </a:r>
          </a:p>
          <a:p>
            <a:pPr>
              <a:lnSpc>
                <a:spcPct val="90000"/>
              </a:lnSpc>
            </a:pPr>
            <a:r>
              <a:rPr lang="en-ZA" dirty="0"/>
              <a:t>At an average loan of R10 000, incremental accuracy improvements translate into millions in annual savings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Regulatory Constraints </a:t>
            </a:r>
          </a:p>
          <a:p>
            <a:pPr>
              <a:lnSpc>
                <a:spcPct val="90000"/>
              </a:lnSpc>
            </a:pPr>
            <a:r>
              <a:rPr lang="en-ZA" dirty="0"/>
              <a:t>South Africa lending laws (NCA/NCR) mandate that every credit denial must be explainable in plain language</a:t>
            </a:r>
          </a:p>
          <a:p>
            <a:pPr>
              <a:lnSpc>
                <a:spcPct val="90000"/>
              </a:lnSpc>
            </a:pPr>
            <a:r>
              <a:rPr lang="en-ZA" dirty="0"/>
              <a:t>This prohibits “black-box” ensembles, necessitating a highly engineered but transparent linear model</a:t>
            </a:r>
          </a:p>
        </p:txBody>
      </p:sp>
    </p:spTree>
    <p:extLst>
      <p:ext uri="{BB962C8B-B14F-4D97-AF65-F5344CB8AC3E}">
        <p14:creationId xmlns:p14="http://schemas.microsoft.com/office/powerpoint/2010/main" val="1084526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1B78FC-1FBC-9348-A7C5-A594485FF19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2" b="726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6D9BD7-0B96-22DE-A51C-2E0E2988F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"/>
            <a:ext cx="9905998" cy="2550253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Project Objectives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C605C-A097-B939-6DE2-878352F8FF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448" y="1778467"/>
            <a:ext cx="11923531" cy="42028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dirty="0"/>
              <a:t>Develop a robust, Interpretable pd model that outperforms benchmarks while ensuring absolute transparency </a:t>
            </a:r>
          </a:p>
          <a:p>
            <a:pPr marL="0" indent="0">
              <a:buNone/>
            </a:pPr>
            <a:endParaRPr lang="en-ZA" dirty="0"/>
          </a:p>
          <a:p>
            <a:r>
              <a:rPr lang="en-ZA" dirty="0"/>
              <a:t>Outperform 0.680 baseline </a:t>
            </a:r>
            <a:r>
              <a:rPr lang="en-ZA" dirty="0" err="1"/>
              <a:t>auc</a:t>
            </a:r>
            <a:endParaRPr lang="en-ZA" dirty="0"/>
          </a:p>
          <a:p>
            <a:r>
              <a:rPr lang="en-ZA" dirty="0"/>
              <a:t>Capture non-linear risk relationships </a:t>
            </a:r>
          </a:p>
          <a:p>
            <a:r>
              <a:rPr lang="en-ZA" dirty="0"/>
              <a:t>Optimize p and L decision thresholds</a:t>
            </a:r>
          </a:p>
          <a:p>
            <a:r>
              <a:rPr lang="en-ZA" dirty="0"/>
              <a:t>Real-time dashboard deployment</a:t>
            </a:r>
          </a:p>
        </p:txBody>
      </p:sp>
    </p:spTree>
    <p:extLst>
      <p:ext uri="{BB962C8B-B14F-4D97-AF65-F5344CB8AC3E}">
        <p14:creationId xmlns:p14="http://schemas.microsoft.com/office/powerpoint/2010/main" val="330359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545CC57-A582-BD34-D021-BCD47F62CD32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8" b="90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9253D8-5424-6A59-5F47-F0B809D0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310640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Data Cleaning and Preparation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C0D8A-67FE-6018-E205-86485C17F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172" y="1031847"/>
            <a:ext cx="11864808" cy="582615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Data Issue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Informative missingness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Numeric Outliers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Categorical Variance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Dirty Dates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Resolution Strategy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Binary flag creation</a:t>
            </a:r>
          </a:p>
          <a:p>
            <a:pPr>
              <a:lnSpc>
                <a:spcPct val="90000"/>
              </a:lnSpc>
            </a:pPr>
            <a:r>
              <a:rPr lang="en-ZA" sz="1600" dirty="0" err="1"/>
              <a:t>Winsorisation</a:t>
            </a:r>
            <a:r>
              <a:rPr lang="en-ZA" sz="1600" dirty="0"/>
              <a:t> at 99</a:t>
            </a:r>
            <a:r>
              <a:rPr lang="en-ZA" sz="1600" baseline="30000" dirty="0"/>
              <a:t>th</a:t>
            </a:r>
            <a:r>
              <a:rPr lang="en-ZA" sz="1600" dirty="0"/>
              <a:t> percentile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Unified synonym standardisation and standardised parsing and not coercion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sz="2400" b="1" dirty="0"/>
              <a:t>Business Rationale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Missingness is MNAR and highly predictive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Caps extreme leverage without losing power and ensures clean group wise risk assessment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Prevents application timeline errors</a:t>
            </a:r>
          </a:p>
        </p:txBody>
      </p:sp>
    </p:spTree>
    <p:extLst>
      <p:ext uri="{BB962C8B-B14F-4D97-AF65-F5344CB8AC3E}">
        <p14:creationId xmlns:p14="http://schemas.microsoft.com/office/powerpoint/2010/main" val="1705479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ADA70C-B6B6-EAA0-BD23-3A1D4502FD5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bg1">
                <a:tint val="45000"/>
                <a:satMod val="400000"/>
              </a:schemeClr>
            </a:duotone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8" r="1" b="1"/>
          <a:stretch>
            <a:fillRect/>
          </a:stretch>
        </p:blipFill>
        <p:spPr>
          <a:xfrm>
            <a:off x="20" y="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F2AE63-2266-A1CA-3339-B9289EAAB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2416029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Model Methodology</a:t>
            </a:r>
            <a:br>
              <a:rPr lang="en-ZA" sz="4000" b="1" dirty="0"/>
            </a:br>
            <a:r>
              <a:rPr lang="en-ZA" sz="2200" b="1" u="sng" dirty="0"/>
              <a:t>Feature Engineering and Metrics</a:t>
            </a:r>
            <a:br>
              <a:rPr lang="en-ZA" dirty="0"/>
            </a:b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6402B-3873-6139-C6E4-C33CC0787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004" y="2416029"/>
            <a:ext cx="11889976" cy="4060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Primary Risk Driver Analysis:</a:t>
            </a:r>
          </a:p>
          <a:p>
            <a:pPr marL="0" indent="0">
              <a:buNone/>
            </a:pPr>
            <a:endParaRPr lang="en-ZA" sz="2400" b="1" dirty="0"/>
          </a:p>
          <a:p>
            <a:pPr marL="0" indent="0">
              <a:buNone/>
            </a:pPr>
            <a:r>
              <a:rPr lang="en-ZA" b="1" dirty="0"/>
              <a:t>DTI Ratio </a:t>
            </a:r>
          </a:p>
          <a:p>
            <a:r>
              <a:rPr lang="en-ZA" sz="1600" dirty="0"/>
              <a:t>Information value (0.382 – strong). Core Indicator of borrower repayment capacity</a:t>
            </a:r>
          </a:p>
          <a:p>
            <a:pPr marL="0" indent="0">
              <a:buNone/>
            </a:pPr>
            <a:r>
              <a:rPr lang="en-ZA" sz="2400" b="1" dirty="0"/>
              <a:t>Utilisation</a:t>
            </a:r>
          </a:p>
          <a:p>
            <a:r>
              <a:rPr lang="en-ZA" sz="1900" dirty="0"/>
              <a:t>Information value (0.348 – strong). Real time stress indicator of revolving credit</a:t>
            </a:r>
          </a:p>
          <a:p>
            <a:pPr marL="0" indent="0">
              <a:buNone/>
            </a:pPr>
            <a:r>
              <a:rPr lang="en-ZA" sz="2400" b="1" dirty="0"/>
              <a:t>Delinquency</a:t>
            </a:r>
          </a:p>
          <a:p>
            <a:r>
              <a:rPr lang="en-ZA" sz="1900" dirty="0"/>
              <a:t>Information value (0.317 – strong). Historical </a:t>
            </a:r>
            <a:r>
              <a:rPr lang="en-ZA" sz="1900" dirty="0" err="1"/>
              <a:t>behavioral</a:t>
            </a:r>
            <a:r>
              <a:rPr lang="en-ZA" sz="1900" dirty="0"/>
              <a:t> history over 24 months</a:t>
            </a:r>
          </a:p>
        </p:txBody>
      </p:sp>
    </p:spTree>
    <p:extLst>
      <p:ext uri="{BB962C8B-B14F-4D97-AF65-F5344CB8AC3E}">
        <p14:creationId xmlns:p14="http://schemas.microsoft.com/office/powerpoint/2010/main" val="491402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AD72CC-B0C3-0E5F-EA27-CD66C31A7D4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/>
          <a:stretch>
            <a:fillRect/>
          </a:stretch>
        </p:blipFill>
        <p:spPr>
          <a:xfrm>
            <a:off x="20" y="148402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3FF499-0E9F-5E9D-6DB9-82C31D9D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-1"/>
            <a:ext cx="9905998" cy="1291905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Feature Engineering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81E86-7183-2A53-57C8-24078A61C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448" y="1440307"/>
            <a:ext cx="11811699" cy="5077939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ZA" b="1" dirty="0"/>
              <a:t>Technique </a:t>
            </a:r>
          </a:p>
          <a:p>
            <a:pPr>
              <a:lnSpc>
                <a:spcPct val="90000"/>
              </a:lnSpc>
            </a:pPr>
            <a:r>
              <a:rPr lang="en-ZA" sz="1600" dirty="0" err="1"/>
              <a:t>WoE</a:t>
            </a:r>
            <a:r>
              <a:rPr lang="en-ZA" sz="1600" dirty="0"/>
              <a:t> encoding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Interaction terms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Log transformation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L2 regularisation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b="1" dirty="0"/>
              <a:t>Features Applied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DTI, utilisation, delinquency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DTI and credit utilisation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Annual Income, loan amount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All model coefficients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ZA" b="1" dirty="0"/>
              <a:t>Methodology Rationale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Captures non-linear risk step functions 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Models multiplicative joint stress risk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Reduces extreme right skew distributions</a:t>
            </a:r>
          </a:p>
          <a:p>
            <a:pPr>
              <a:lnSpc>
                <a:spcPct val="90000"/>
              </a:lnSpc>
            </a:pPr>
            <a:r>
              <a:rPr lang="en-ZA" sz="1600" dirty="0"/>
              <a:t>Prevents overfitting in high-dm space</a:t>
            </a:r>
          </a:p>
        </p:txBody>
      </p:sp>
    </p:spTree>
    <p:extLst>
      <p:ext uri="{BB962C8B-B14F-4D97-AF65-F5344CB8AC3E}">
        <p14:creationId xmlns:p14="http://schemas.microsoft.com/office/powerpoint/2010/main" val="1069980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DB642-AB78-0815-0D49-65A11ECC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3200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Model Performance Benchmarks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4652BC-9545-1624-75D2-B882A38F55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0480"/>
            <a:ext cx="12192000" cy="5628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0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F569-6C45-FAC2-15A3-66E2A0454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266738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Operational Threshold Analysis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2BDA64-1D71-C8C9-E136-5441D7E3D7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6738"/>
            <a:ext cx="12191999" cy="5591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761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984972-B27E-9641-BAFF-64E53930071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62" b="7268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D1B000-A950-60D8-25B6-CE8DFEB20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3061982"/>
          </a:xfrm>
        </p:spPr>
        <p:txBody>
          <a:bodyPr>
            <a:normAutofit/>
          </a:bodyPr>
          <a:lstStyle/>
          <a:p>
            <a:pPr algn="ctr"/>
            <a:r>
              <a:rPr lang="en-ZA" sz="4000" b="1" u="sng" dirty="0"/>
              <a:t>Lending Policy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5011D-D702-A918-B6E7-E9F9DFCA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28" y="1493240"/>
            <a:ext cx="11831252" cy="53647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ZA" sz="2400" b="1" dirty="0"/>
              <a:t>Auto-approve (&lt;8%) </a:t>
            </a:r>
          </a:p>
          <a:p>
            <a:r>
              <a:rPr lang="en-ZA" dirty="0"/>
              <a:t>Prime borrowers with streamlined scoring</a:t>
            </a:r>
          </a:p>
          <a:p>
            <a:pPr marL="0" indent="0">
              <a:buNone/>
            </a:pPr>
            <a:r>
              <a:rPr lang="en-ZA" sz="2400" b="1" dirty="0"/>
              <a:t>Review (18-30%)</a:t>
            </a:r>
          </a:p>
          <a:p>
            <a:r>
              <a:rPr lang="en-ZA" dirty="0"/>
              <a:t>Manual intervention and deep-dive audits</a:t>
            </a:r>
          </a:p>
          <a:p>
            <a:pPr marL="0" indent="0">
              <a:buNone/>
            </a:pPr>
            <a:r>
              <a:rPr lang="en-ZA" sz="2400" b="1" dirty="0"/>
              <a:t>Hard Decline (&gt;50%)</a:t>
            </a:r>
          </a:p>
          <a:p>
            <a:r>
              <a:rPr lang="en-ZA" dirty="0"/>
              <a:t>High-risk profiles with regulatory notices </a:t>
            </a:r>
          </a:p>
        </p:txBody>
      </p:sp>
    </p:spTree>
    <p:extLst>
      <p:ext uri="{BB962C8B-B14F-4D97-AF65-F5344CB8AC3E}">
        <p14:creationId xmlns:p14="http://schemas.microsoft.com/office/powerpoint/2010/main" val="23791385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94</TotalTime>
  <Words>401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Century Gothic</vt:lpstr>
      <vt:lpstr>Mesh</vt:lpstr>
      <vt:lpstr>Credit Risk Modelling </vt:lpstr>
      <vt:lpstr>Executive Summary Highlights</vt:lpstr>
      <vt:lpstr>Business Context  </vt:lpstr>
      <vt:lpstr>Project Objectives </vt:lpstr>
      <vt:lpstr>Data Cleaning and Preparation</vt:lpstr>
      <vt:lpstr>Model Methodology Feature Engineering and Metrics </vt:lpstr>
      <vt:lpstr>Feature Engineering Pipeline</vt:lpstr>
      <vt:lpstr>Model Performance Benchmarks</vt:lpstr>
      <vt:lpstr>Operational Threshold Analysis </vt:lpstr>
      <vt:lpstr>Lending Policy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Aphelele Siphelele Gwebityala</dc:creator>
  <cp:lastModifiedBy>Aphelele Siphelele Gwebityala</cp:lastModifiedBy>
  <cp:revision>1</cp:revision>
  <dcterms:created xsi:type="dcterms:W3CDTF">2026-05-22T13:23:09Z</dcterms:created>
  <dcterms:modified xsi:type="dcterms:W3CDTF">2026-05-22T14:57:36Z</dcterms:modified>
</cp:coreProperties>
</file>